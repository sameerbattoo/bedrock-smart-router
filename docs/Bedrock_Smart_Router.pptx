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32" y="5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97316"/>
                </a:solidFill>
              </a:defRPr>
            </a:pPr>
            <a:r>
              <a:rPr dirty="0">
                <a:solidFill>
                  <a:schemeClr val="bg1"/>
                </a:solidFill>
              </a:rPr>
              <a:t>The</a:t>
            </a:r>
            <a:r>
              <a:rPr dirty="0"/>
              <a:t> Model Selection </a:t>
            </a:r>
            <a:r>
              <a:rPr dirty="0">
                <a:solidFill>
                  <a:schemeClr val="bg1"/>
                </a:solidFill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Amazon Bedrock offers </a:t>
            </a:r>
            <a:r>
              <a:rPr lang="en-US" sz="1400">
                <a:solidFill>
                  <a:schemeClr val="accent6"/>
                </a:solidFill>
              </a:rPr>
              <a:t>70</a:t>
            </a:r>
            <a:r>
              <a:rPr sz="1400">
                <a:solidFill>
                  <a:schemeClr val="accent6"/>
                </a:solidFill>
              </a:rPr>
              <a:t>+ models </a:t>
            </a:r>
            <a:r>
              <a:t>across </a:t>
            </a:r>
            <a:r>
              <a:rPr lang="en-US"/>
              <a:t>14</a:t>
            </a:r>
            <a:r>
              <a:t> families. Picking the right one for each request</a:t>
            </a:r>
            <a:br/>
            <a:r>
              <a:t>is a manual, static decision that leaves money and performance on the 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47472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3108960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3F4F6"/>
                </a:solidFill>
              </a:defRPr>
            </a:pPr>
            <a:r>
              <a:rPr sz="1600" dirty="0"/>
              <a:t>💸  </a:t>
            </a:r>
            <a:endParaRPr lang="en-US" sz="1600" dirty="0"/>
          </a:p>
          <a:p>
            <a:pPr>
              <a:defRPr sz="1100" b="1">
                <a:solidFill>
                  <a:srgbClr val="F3F4F6"/>
                </a:solidFill>
              </a:defRPr>
            </a:pPr>
            <a:r>
              <a:rPr sz="1600" dirty="0"/>
              <a:t>Overspending</a:t>
            </a:r>
          </a:p>
          <a:p>
            <a:pPr>
              <a:spcBef>
                <a:spcPts val="600"/>
              </a:spcBef>
              <a:defRPr sz="900">
                <a:solidFill>
                  <a:srgbClr val="9CA3AF"/>
                </a:solidFill>
              </a:defRPr>
            </a:pPr>
            <a:r>
              <a:rPr lang="en-US" sz="1600" dirty="0"/>
              <a:t>Using Opus for "What is S3?" costs 50× more than needed. No automatic downgrade for simple tasks.</a:t>
            </a:r>
            <a:endParaRPr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4480559" y="2286000"/>
            <a:ext cx="347472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63439" y="2423160"/>
            <a:ext cx="310896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3F4F6"/>
                </a:solidFill>
              </a:defRPr>
            </a:pPr>
            <a:r>
              <a:rPr sz="1600" dirty="0"/>
              <a:t>🐌  </a:t>
            </a:r>
            <a:endParaRPr lang="en-US" sz="1600" dirty="0"/>
          </a:p>
          <a:p>
            <a:pPr>
              <a:defRPr sz="1100" b="1">
                <a:solidFill>
                  <a:srgbClr val="F3F4F6"/>
                </a:solidFill>
              </a:defRPr>
            </a:pPr>
            <a:r>
              <a:rPr sz="1600" dirty="0"/>
              <a:t>Unnecessary Latency</a:t>
            </a:r>
          </a:p>
          <a:p>
            <a:pPr>
              <a:spcBef>
                <a:spcPts val="600"/>
              </a:spcBef>
              <a:defRPr sz="900">
                <a:solidFill>
                  <a:srgbClr val="9CA3AF"/>
                </a:solidFill>
              </a:defRPr>
            </a:pPr>
            <a:r>
              <a:rPr lang="en-US" sz="1600" dirty="0"/>
              <a:t>Large models add seconds of latency for tasks a smaller model handles in milliseconds.</a:t>
            </a:r>
            <a:endParaRPr sz="1600" dirty="0"/>
          </a:p>
        </p:txBody>
      </p:sp>
      <p:sp>
        <p:nvSpPr>
          <p:cNvPr id="8" name="Rounded Rectangle 7"/>
          <p:cNvSpPr/>
          <p:nvPr/>
        </p:nvSpPr>
        <p:spPr>
          <a:xfrm>
            <a:off x="8229600" y="2286000"/>
            <a:ext cx="347472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2423160"/>
            <a:ext cx="310896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3F4F6"/>
                </a:solidFill>
              </a:defRPr>
            </a:pPr>
            <a:r>
              <a:rPr sz="1600" dirty="0"/>
              <a:t>💀  </a:t>
            </a:r>
            <a:endParaRPr lang="en-US" sz="1600" dirty="0"/>
          </a:p>
          <a:p>
            <a:pPr>
              <a:defRPr sz="1100" b="1">
                <a:solidFill>
                  <a:srgbClr val="F3F4F6"/>
                </a:solidFill>
              </a:defRPr>
            </a:pPr>
            <a:r>
              <a:rPr sz="1600" dirty="0"/>
              <a:t>No Resilience</a:t>
            </a:r>
          </a:p>
          <a:p>
            <a:pPr>
              <a:spcBef>
                <a:spcPts val="600"/>
              </a:spcBef>
              <a:defRPr sz="900">
                <a:solidFill>
                  <a:srgbClr val="9CA3AF"/>
                </a:solidFill>
              </a:defRPr>
            </a:pPr>
            <a:r>
              <a:rPr lang="en-US" sz="1600" dirty="0"/>
              <a:t>Hardcoded model IDs mean throttling = downtime. No retry, no fallback, no circuit breakers.</a:t>
            </a:r>
            <a:endParaRPr sz="1600" dirty="0"/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347472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310896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3F4F6"/>
                </a:solidFill>
              </a:defRPr>
            </a:pPr>
            <a:r>
              <a:rPr sz="1600" dirty="0"/>
              <a:t>🔒  </a:t>
            </a:r>
            <a:endParaRPr lang="en-US" sz="1600" dirty="0"/>
          </a:p>
          <a:p>
            <a:pPr>
              <a:defRPr sz="1100" b="1">
                <a:solidFill>
                  <a:srgbClr val="F3F4F6"/>
                </a:solidFill>
              </a:defRPr>
            </a:pPr>
            <a:r>
              <a:rPr sz="1600" dirty="0"/>
              <a:t>Single Family Lock-in</a:t>
            </a:r>
          </a:p>
          <a:p>
            <a:pPr>
              <a:spcBef>
                <a:spcPts val="600"/>
              </a:spcBef>
              <a:defRPr sz="900">
                <a:solidFill>
                  <a:srgbClr val="9CA3AF"/>
                </a:solidFill>
              </a:defRPr>
            </a:pPr>
            <a:r>
              <a:rPr lang="en-US" sz="1600" dirty="0"/>
              <a:t>Bedrock's native router only routes within one family. Can't leverage Nova for cost + Claude for quality.</a:t>
            </a:r>
            <a:endParaRPr sz="1600" dirty="0"/>
          </a:p>
        </p:txBody>
      </p:sp>
      <p:sp>
        <p:nvSpPr>
          <p:cNvPr id="12" name="Rounded Rectangle 11"/>
          <p:cNvSpPr/>
          <p:nvPr/>
        </p:nvSpPr>
        <p:spPr>
          <a:xfrm>
            <a:off x="4480559" y="4389120"/>
            <a:ext cx="347472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39" y="4526280"/>
            <a:ext cx="310896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3F4F6"/>
                </a:solidFill>
              </a:defRPr>
            </a:pPr>
            <a:r>
              <a:rPr sz="1600" dirty="0"/>
              <a:t>👥  </a:t>
            </a:r>
            <a:endParaRPr lang="en-US" sz="1600" dirty="0"/>
          </a:p>
          <a:p>
            <a:pPr>
              <a:defRPr sz="1100" b="1">
                <a:solidFill>
                  <a:srgbClr val="F3F4F6"/>
                </a:solidFill>
              </a:defRPr>
            </a:pPr>
            <a:r>
              <a:rPr sz="1600" dirty="0"/>
              <a:t>No Multi-Tenant Control</a:t>
            </a:r>
          </a:p>
          <a:p>
            <a:pPr>
              <a:spcBef>
                <a:spcPts val="600"/>
              </a:spcBef>
              <a:defRPr sz="900">
                <a:solidFill>
                  <a:srgbClr val="9CA3AF"/>
                </a:solidFill>
              </a:defRPr>
            </a:pPr>
            <a:r>
              <a:rPr lang="en-US" sz="1600" dirty="0"/>
              <a:t>Free and enterprise users hit the same model. No per-tenant budgets, no cost attribution.</a:t>
            </a:r>
            <a:endParaRPr sz="1600" dirty="0"/>
          </a:p>
        </p:txBody>
      </p:sp>
      <p:sp>
        <p:nvSpPr>
          <p:cNvPr id="14" name="Rounded Rectangle 13"/>
          <p:cNvSpPr/>
          <p:nvPr/>
        </p:nvSpPr>
        <p:spPr>
          <a:xfrm>
            <a:off x="8229600" y="4389120"/>
            <a:ext cx="347472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4526280"/>
            <a:ext cx="310896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3F4F6"/>
                </a:solidFill>
              </a:defRPr>
            </a:pPr>
            <a:r>
              <a:rPr sz="1600" dirty="0"/>
              <a:t>📊  </a:t>
            </a:r>
            <a:endParaRPr lang="en-US" sz="1600" dirty="0"/>
          </a:p>
          <a:p>
            <a:pPr>
              <a:defRPr sz="1100" b="1">
                <a:solidFill>
                  <a:srgbClr val="F3F4F6"/>
                </a:solidFill>
              </a:defRPr>
            </a:pPr>
            <a:r>
              <a:rPr sz="1600" dirty="0"/>
              <a:t>Blind Decisions</a:t>
            </a:r>
          </a:p>
          <a:p>
            <a:pPr>
              <a:spcBef>
                <a:spcPts val="600"/>
              </a:spcBef>
              <a:defRPr sz="900">
                <a:solidFill>
                  <a:srgbClr val="9CA3AF"/>
                </a:solidFill>
              </a:defRPr>
            </a:pPr>
            <a:r>
              <a:rPr lang="en-US" sz="1600" dirty="0"/>
              <a:t>No visibility into why a model was chosen. No quality tracking. No A/B testing for new models.</a:t>
            </a:r>
            <a:endParaRPr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97316"/>
                </a:solidFill>
              </a:defRPr>
            </a:pPr>
            <a:r>
              <a:rPr dirty="0">
                <a:solidFill>
                  <a:schemeClr val="bg1"/>
                </a:solidFill>
              </a:rPr>
              <a:t>Existing Solutions </a:t>
            </a:r>
            <a:r>
              <a:rPr dirty="0"/>
              <a:t>Fall Short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rPr sz="1400" dirty="0"/>
              <a:t>Generic LLM gateways and Bedrock's native router each solve part of the problem — none address Bedrock-specific needs holistically.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3917AE-99D9-4CD4-3E7B-95BD1590F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78" y="1652171"/>
            <a:ext cx="10659865" cy="44827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97316"/>
                </a:solidFill>
              </a:defRPr>
            </a:pPr>
            <a:r>
              <a:t>Bedrock Smart Router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CA3AF"/>
                </a:solidFill>
              </a:defRPr>
            </a:pPr>
            <a:r>
              <a:rPr lang="en-US" sz="1400" dirty="0"/>
              <a:t>A lightweight </a:t>
            </a:r>
            <a:r>
              <a:rPr lang="en-US" sz="1400" dirty="0">
                <a:solidFill>
                  <a:schemeClr val="accent6"/>
                </a:solidFill>
              </a:rPr>
              <a:t>Python/JS Library </a:t>
            </a:r>
            <a:r>
              <a:rPr lang="en-US" sz="1400" dirty="0"/>
              <a:t>that sits between your app and Bedrock. </a:t>
            </a:r>
            <a:r>
              <a:rPr lang="en-US" sz="1400" dirty="0">
                <a:solidFill>
                  <a:schemeClr val="accent6"/>
                </a:solidFill>
              </a:rPr>
              <a:t>Drop-in replacement </a:t>
            </a:r>
            <a:r>
              <a:rPr lang="en-US" sz="1400"/>
              <a:t>for </a:t>
            </a:r>
            <a:r>
              <a:rPr lang="en-US" sz="1400">
                <a:solidFill>
                  <a:schemeClr val="accent6"/>
                </a:solidFill>
              </a:rPr>
              <a:t>converse</a:t>
            </a:r>
            <a:r>
              <a:rPr lang="en-US" sz="1400"/>
              <a:t> &amp; </a:t>
            </a:r>
            <a:r>
              <a:rPr lang="en-US" sz="1400">
                <a:solidFill>
                  <a:schemeClr val="accent6"/>
                </a:solidFill>
              </a:rPr>
              <a:t>chat completion </a:t>
            </a:r>
            <a:r>
              <a:rPr lang="en-US" sz="1400">
                <a:solidFill>
                  <a:srgbClr val="9CA3AF"/>
                </a:solidFill>
              </a:rPr>
              <a:t>APIs </a:t>
            </a:r>
            <a:r>
              <a:rPr lang="en-US" sz="1400" dirty="0"/>
              <a:t>with support for </a:t>
            </a:r>
            <a:r>
              <a:rPr lang="en-US" sz="1400" dirty="0">
                <a:solidFill>
                  <a:schemeClr val="accent6"/>
                </a:solidFill>
              </a:rPr>
              <a:t>Strands</a:t>
            </a:r>
            <a:r>
              <a:rPr lang="en-US" sz="1400" dirty="0"/>
              <a:t> Agents SDK.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12FE96-71BC-6A58-CF49-EBB87ACF6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99" y="2446639"/>
            <a:ext cx="11442426" cy="27184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97316"/>
                </a:solidFill>
              </a:defRPr>
            </a:pPr>
            <a:r>
              <a:rPr dirty="0">
                <a:solidFill>
                  <a:schemeClr val="bg1"/>
                </a:solidFill>
              </a:rPr>
              <a:t>Problem</a:t>
            </a:r>
            <a:r>
              <a:rPr dirty="0"/>
              <a:t> → Solved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Analyzes each request's complexity in real-time and routes to the optimal model — balancing cost, latency, and quality automatically.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785" y="530352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CA3AF"/>
                </a:solidFill>
              </a:defRPr>
            </a:pPr>
            <a:r>
              <a:rPr sz="1200" dirty="0"/>
              <a:t>📧 Sameer Battoo (</a:t>
            </a:r>
            <a:r>
              <a:rPr sz="1200" dirty="0" err="1"/>
              <a:t>sbattoo@amazon.com</a:t>
            </a:r>
            <a:r>
              <a:rPr sz="1200" dirty="0"/>
              <a:t>)   </a:t>
            </a:r>
            <a:endParaRPr lang="en-US" sz="1200" dirty="0"/>
          </a:p>
          <a:p>
            <a:pPr>
              <a:defRPr sz="1000" b="0">
                <a:solidFill>
                  <a:srgbClr val="9CA3AF"/>
                </a:solidFill>
              </a:defRPr>
            </a:pPr>
            <a:r>
              <a:rPr sz="1200" dirty="0"/>
              <a:t>🔗 </a:t>
            </a:r>
            <a:r>
              <a:rPr lang="en-US" sz="1200" dirty="0"/>
              <a:t>GITLAB: </a:t>
            </a:r>
            <a:r>
              <a:rPr sz="1200" dirty="0"/>
              <a:t>https://</a:t>
            </a:r>
            <a:r>
              <a:rPr sz="1200" dirty="0" err="1"/>
              <a:t>gitlab.aws.dev</a:t>
            </a:r>
            <a:r>
              <a:rPr sz="1200" dirty="0"/>
              <a:t>/</a:t>
            </a:r>
            <a:r>
              <a:rPr sz="1200" dirty="0" err="1"/>
              <a:t>sbattoo</a:t>
            </a:r>
            <a:r>
              <a:rPr sz="1200" dirty="0"/>
              <a:t>/</a:t>
            </a:r>
            <a:r>
              <a:rPr sz="1200" dirty="0" err="1"/>
              <a:t>bedrock_smart_router</a:t>
            </a:r>
            <a:endParaRPr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4203A8-B077-0E3C-8B92-4590A203A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07" y="1940157"/>
            <a:ext cx="11873810" cy="28209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278</Words>
  <Application>Microsoft Macintosh PowerPoint</Application>
  <PresentationFormat>Custom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Battoo, Sameer</cp:lastModifiedBy>
  <cp:revision>3</cp:revision>
  <dcterms:created xsi:type="dcterms:W3CDTF">2013-01-27T09:14:16Z</dcterms:created>
  <dcterms:modified xsi:type="dcterms:W3CDTF">2026-08-13T22:54:08Z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2026-05-18T18:23:49Z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e9202447-0726-4d45-9aef-16b6f7dcf6d1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